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5" userDrawn="1">
          <p15:clr>
            <a:srgbClr val="A4A3A4"/>
          </p15:clr>
        </p15:guide>
        <p15:guide id="2" pos="67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D6D6"/>
    <a:srgbClr val="F0D0E7"/>
    <a:srgbClr val="CCE4F0"/>
    <a:srgbClr val="EEC8E3"/>
    <a:srgbClr val="EDE1F7"/>
    <a:srgbClr val="EFF6A8"/>
    <a:srgbClr val="E9B5DA"/>
    <a:srgbClr val="E4D1F3"/>
    <a:srgbClr val="3A045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60"/>
  </p:normalViewPr>
  <p:slideViewPr>
    <p:cSldViewPr snapToGrid="0">
      <p:cViewPr>
        <p:scale>
          <a:sx n="33" d="100"/>
          <a:sy n="33" d="100"/>
        </p:scale>
        <p:origin x="1638" y="-2409"/>
      </p:cViewPr>
      <p:guideLst>
        <p:guide orient="horz" pos="9535"/>
        <p:guide pos="67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B890C-4336-4545-823A-BF0A6B9E86A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CFF5-070C-431E-83E8-B98361B522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4811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B890C-4336-4545-823A-BF0A6B9E86A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CFF5-070C-431E-83E8-B98361B522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605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B890C-4336-4545-823A-BF0A6B9E86A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CFF5-070C-431E-83E8-B98361B522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771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B890C-4336-4545-823A-BF0A6B9E86A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CFF5-070C-431E-83E8-B98361B522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3572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B890C-4336-4545-823A-BF0A6B9E86A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CFF5-070C-431E-83E8-B98361B522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5114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B890C-4336-4545-823A-BF0A6B9E86A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CFF5-070C-431E-83E8-B98361B522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829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B890C-4336-4545-823A-BF0A6B9E86A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CFF5-070C-431E-83E8-B98361B522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3527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B890C-4336-4545-823A-BF0A6B9E86A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CFF5-070C-431E-83E8-B98361B522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9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B890C-4336-4545-823A-BF0A6B9E86A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CFF5-070C-431E-83E8-B98361B522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0277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B890C-4336-4545-823A-BF0A6B9E86A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CFF5-070C-431E-83E8-B98361B522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322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B890C-4336-4545-823A-BF0A6B9E86A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BCFF5-070C-431E-83E8-B98361B522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165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FB890C-4336-4545-823A-BF0A6B9E86A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BCFF5-070C-431E-83E8-B98361B522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214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hyperlink" Target="https://www.youtube.com/watch?v=0FsTPQY1bJw" TargetMode="External"/><Relationship Id="rId1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hyperlink" Target="https://docs.backyardbrains.com/retired/experiments/RobotHand/" TargetMode="External"/><Relationship Id="rId17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hyperlink" Target="https://rombolabs.github.io/#project" TargetMode="External"/><Relationship Id="rId5" Type="http://schemas.openxmlformats.org/officeDocument/2006/relationships/image" Target="../media/image4.png"/><Relationship Id="rId15" Type="http://schemas.openxmlformats.org/officeDocument/2006/relationships/hyperlink" Target="https://www.un.org/development/desa/disabilities/convention-on-the-rights-of-persons-with-disabilities.html" TargetMode="External"/><Relationship Id="rId10" Type="http://schemas.openxmlformats.org/officeDocument/2006/relationships/image" Target="../media/image9.png"/><Relationship Id="rId19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hyperlink" Target="https://doi.org/10.1145/3025171.302521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7311577-17D2-F3D6-8533-3A6ED66950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3579" y="884276"/>
            <a:ext cx="3898232" cy="7839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8704D85-C630-C931-D519-8A5AE074B32E}"/>
              </a:ext>
            </a:extLst>
          </p:cNvPr>
          <p:cNvSpPr/>
          <p:nvPr/>
        </p:nvSpPr>
        <p:spPr>
          <a:xfrm>
            <a:off x="1143811" y="1698020"/>
            <a:ext cx="13973931" cy="2064309"/>
          </a:xfrm>
          <a:prstGeom prst="rect">
            <a:avLst/>
          </a:prstGeom>
          <a:solidFill>
            <a:schemeClr val="accent1">
              <a:lumMod val="20000"/>
              <a:lumOff val="8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3CD33E-8E0E-3AFC-C13E-B7314CC93284}"/>
              </a:ext>
            </a:extLst>
          </p:cNvPr>
          <p:cNvSpPr txBox="1"/>
          <p:nvPr/>
        </p:nvSpPr>
        <p:spPr>
          <a:xfrm>
            <a:off x="1415659" y="1914566"/>
            <a:ext cx="134302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>
                <a:latin typeface="Bahnschrift Light" panose="020B0502040204020203" pitchFamily="34" charset="0"/>
              </a:rPr>
              <a:t>A Mobile-Based Translation System Using EMG Signal Processing and Machine Learning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8CD86B-EFAC-7213-9A70-D4D83BC4326E}"/>
              </a:ext>
            </a:extLst>
          </p:cNvPr>
          <p:cNvSpPr txBox="1"/>
          <p:nvPr/>
        </p:nvSpPr>
        <p:spPr>
          <a:xfrm>
            <a:off x="719812" y="884276"/>
            <a:ext cx="1482193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500" dirty="0">
                <a:latin typeface="Bahnschrift SemiBold SemiConden" panose="020B0502040204020203" pitchFamily="34" charset="0"/>
              </a:rPr>
              <a:t>Breaking Communication Barriers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84BB7A-471C-3681-7639-61685F118778}"/>
              </a:ext>
            </a:extLst>
          </p:cNvPr>
          <p:cNvSpPr/>
          <p:nvPr/>
        </p:nvSpPr>
        <p:spPr>
          <a:xfrm>
            <a:off x="15538645" y="1924089"/>
            <a:ext cx="4704263" cy="630943"/>
          </a:xfrm>
          <a:prstGeom prst="rect">
            <a:avLst/>
          </a:prstGeom>
          <a:solidFill>
            <a:schemeClr val="bg2">
              <a:lumMod val="9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BD33B6-0B88-56A6-4B16-177031C7292E}"/>
              </a:ext>
            </a:extLst>
          </p:cNvPr>
          <p:cNvSpPr txBox="1"/>
          <p:nvPr/>
        </p:nvSpPr>
        <p:spPr>
          <a:xfrm>
            <a:off x="15538645" y="1924089"/>
            <a:ext cx="4704263" cy="6309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3500" dirty="0">
                <a:latin typeface="Bahnschrift Light" panose="020B0502040204020203" pitchFamily="34" charset="0"/>
              </a:rPr>
              <a:t>Project Team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616D89-A691-D650-4F5C-1D63F369D524}"/>
              </a:ext>
            </a:extLst>
          </p:cNvPr>
          <p:cNvSpPr txBox="1"/>
          <p:nvPr/>
        </p:nvSpPr>
        <p:spPr>
          <a:xfrm>
            <a:off x="15538645" y="2555031"/>
            <a:ext cx="470426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dirty="0"/>
              <a:t>Author: </a:t>
            </a:r>
            <a:r>
              <a:rPr lang="en-GB" sz="2400" dirty="0"/>
              <a:t>S. Truc Deydeepya Lakshmi</a:t>
            </a:r>
            <a:r>
              <a:rPr lang="en-US" sz="2400" dirty="0"/>
              <a:t> </a:t>
            </a:r>
          </a:p>
          <a:p>
            <a:r>
              <a:rPr lang="en-US" sz="2600" b="1" dirty="0"/>
              <a:t>Student ID</a:t>
            </a:r>
            <a:r>
              <a:rPr lang="en-US" sz="2600" dirty="0"/>
              <a:t>: </a:t>
            </a:r>
            <a:r>
              <a:rPr lang="en-GB" sz="2400" dirty="0"/>
              <a:t>25195661/1</a:t>
            </a:r>
          </a:p>
          <a:p>
            <a:r>
              <a:rPr lang="en-GB" sz="2600" b="1" dirty="0"/>
              <a:t>Supervisor: </a:t>
            </a:r>
            <a:r>
              <a:rPr lang="en-US" sz="2400" dirty="0"/>
              <a:t>Dr. Vi Chi Thanh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8CFC86-F635-3A9F-0D9B-1FF63FA14B6B}"/>
              </a:ext>
            </a:extLst>
          </p:cNvPr>
          <p:cNvSpPr/>
          <p:nvPr/>
        </p:nvSpPr>
        <p:spPr>
          <a:xfrm>
            <a:off x="719812" y="4157279"/>
            <a:ext cx="19944000" cy="814087"/>
          </a:xfrm>
          <a:prstGeom prst="rect">
            <a:avLst/>
          </a:prstGeom>
          <a:solidFill>
            <a:schemeClr val="accent2">
              <a:lumMod val="20000"/>
              <a:lumOff val="8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  <a:latin typeface="Bahnschrift Light" panose="020B0502040204020203" pitchFamily="34" charset="0"/>
              </a:rPr>
              <a:t>Introduction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2248DA-C6E2-CA91-BDC2-A3284DFA47FB}"/>
              </a:ext>
            </a:extLst>
          </p:cNvPr>
          <p:cNvSpPr txBox="1"/>
          <p:nvPr/>
        </p:nvSpPr>
        <p:spPr>
          <a:xfrm>
            <a:off x="719811" y="5089743"/>
            <a:ext cx="19944000" cy="2964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Calibri (Body)"/>
                <a:cs typeface="Arial" panose="020B0604020202020204" pitchFamily="34" charset="0"/>
              </a:rPr>
              <a:t>The United Nations Convention on the Rights of Persons with Disabilities recognizes sign languages as a basic human right essential for social inclusion. Despite rapid technological evolution, a profound communication barrier persists between sign language users and the hearing world. Hence, this project aims to design, develop and evaluate </a:t>
            </a:r>
            <a:r>
              <a:rPr lang="en-US" sz="3000" b="1" dirty="0">
                <a:latin typeface="Calibri (Body)"/>
                <a:cs typeface="Arial" panose="020B0604020202020204" pitchFamily="34" charset="0"/>
              </a:rPr>
              <a:t>SignLink</a:t>
            </a:r>
            <a:r>
              <a:rPr lang="en-US" sz="3000" dirty="0">
                <a:latin typeface="Calibri (Body)"/>
                <a:cs typeface="Arial" panose="020B0604020202020204" pitchFamily="34" charset="0"/>
              </a:rPr>
              <a:t>, an intelligent sign language translation system that utilizes ML and EMG-based gesture recognition to translate sign language gestures into text and speech through an Android mobile application.</a:t>
            </a:r>
          </a:p>
          <a:p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58BFDDA-226D-9244-6012-2E04512D3DE3}"/>
              </a:ext>
            </a:extLst>
          </p:cNvPr>
          <p:cNvSpPr/>
          <p:nvPr/>
        </p:nvSpPr>
        <p:spPr>
          <a:xfrm>
            <a:off x="8430898" y="7673545"/>
            <a:ext cx="12232913" cy="814087"/>
          </a:xfrm>
          <a:prstGeom prst="rect">
            <a:avLst/>
          </a:prstGeom>
          <a:solidFill>
            <a:srgbClr val="D8D6D6">
              <a:alpha val="6470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  <a:latin typeface="Bahnschrift Light" panose="020B0502040204020203" pitchFamily="34" charset="0"/>
              </a:rPr>
              <a:t>Objectives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DAB5298-F377-C1F0-992E-224BA68D48E3}"/>
              </a:ext>
            </a:extLst>
          </p:cNvPr>
          <p:cNvSpPr/>
          <p:nvPr/>
        </p:nvSpPr>
        <p:spPr>
          <a:xfrm>
            <a:off x="751897" y="7673545"/>
            <a:ext cx="7262654" cy="814087"/>
          </a:xfrm>
          <a:prstGeom prst="rect">
            <a:avLst/>
          </a:prstGeom>
          <a:solidFill>
            <a:srgbClr val="EDE1F7">
              <a:alpha val="6470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  <a:latin typeface="Bahnschrift Light" panose="020B0502040204020203" pitchFamily="34" charset="0"/>
              </a:rPr>
              <a:t>Methodology</a:t>
            </a: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3109A5D7-A9A2-4361-E9F8-7F8A1B673D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18" y="9966046"/>
            <a:ext cx="1518835" cy="1518835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338FD75B-651F-BB86-81A4-21692AB5DF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989"/>
          <a:stretch>
            <a:fillRect/>
          </a:stretch>
        </p:blipFill>
        <p:spPr>
          <a:xfrm>
            <a:off x="936698" y="13011820"/>
            <a:ext cx="1518835" cy="1503983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F3234432-6675-3C4C-E0AC-19FC320AA99D}"/>
              </a:ext>
            </a:extLst>
          </p:cNvPr>
          <p:cNvSpPr txBox="1"/>
          <p:nvPr/>
        </p:nvSpPr>
        <p:spPr>
          <a:xfrm>
            <a:off x="2663707" y="12739616"/>
            <a:ext cx="53508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Hardware development followed three iterative phases: V1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0B6C56B-3F83-2FBA-B44C-9F8EDD76631D}"/>
              </a:ext>
            </a:extLst>
          </p:cNvPr>
          <p:cNvSpPr txBox="1"/>
          <p:nvPr/>
        </p:nvSpPr>
        <p:spPr>
          <a:xfrm>
            <a:off x="2663707" y="8573792"/>
            <a:ext cx="535084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The native Android app uses an MVVM architecture and Nielsen’s heuristics to provide an intuitive interface for hardware calibration, BLE connectivity, and real-time translation, integrating TTS/STT and a local RoomDB for personalized user data management.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127811EB-AD42-AA5E-906C-FF3D110338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071" y="14904774"/>
            <a:ext cx="1670462" cy="1670462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FD2FF61D-4BF9-6203-485D-9337D6CEEE35}"/>
              </a:ext>
            </a:extLst>
          </p:cNvPr>
          <p:cNvSpPr txBox="1"/>
          <p:nvPr/>
        </p:nvSpPr>
        <p:spPr>
          <a:xfrm>
            <a:off x="2663707" y="14730113"/>
            <a:ext cx="179366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The model utilizes a Random Forest classifier trained on EMG/IMU sensor data, optimized through multi-window statistical feature engineering and SelectFromModel attribute reduction. To address inter-user signal variability, we implemented an intra-user classification strategy requiring a personalized calibration phase, which ensures high-accuracy, real-time gesture recognition.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FE38665-CC9A-1F51-4F1D-74422C87BEF5}"/>
              </a:ext>
            </a:extLst>
          </p:cNvPr>
          <p:cNvSpPr/>
          <p:nvPr/>
        </p:nvSpPr>
        <p:spPr>
          <a:xfrm>
            <a:off x="647525" y="16851803"/>
            <a:ext cx="10636693" cy="814087"/>
          </a:xfrm>
          <a:prstGeom prst="rect">
            <a:avLst/>
          </a:prstGeom>
          <a:solidFill>
            <a:srgbClr val="EFF6A8">
              <a:alpha val="6470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  <a:latin typeface="Bahnschrift Light" panose="020B0502040204020203" pitchFamily="34" charset="0"/>
              </a:rPr>
              <a:t>Results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7E27B54-DA88-FD1A-068D-CEE956982C06}"/>
              </a:ext>
            </a:extLst>
          </p:cNvPr>
          <p:cNvSpPr txBox="1"/>
          <p:nvPr/>
        </p:nvSpPr>
        <p:spPr>
          <a:xfrm>
            <a:off x="13976663" y="17741339"/>
            <a:ext cx="645309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Initial pilot testing with 5 users refined core UI concepts on high-fidelity prototypes, while subsequent trials with 15 users validated the final application’s translation workflows and interface accessibility.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072D0663-F684-BCE0-728F-55DB93E90858}"/>
              </a:ext>
            </a:extLst>
          </p:cNvPr>
          <p:cNvSpPr/>
          <p:nvPr/>
        </p:nvSpPr>
        <p:spPr>
          <a:xfrm>
            <a:off x="8430898" y="8487632"/>
            <a:ext cx="12200830" cy="4896092"/>
          </a:xfrm>
          <a:prstGeom prst="rect">
            <a:avLst/>
          </a:prstGeom>
          <a:solidFill>
            <a:srgbClr val="EAEAEA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29706409-7812-AE4D-B994-47F6C77C19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0251" y="8811324"/>
            <a:ext cx="1764113" cy="1764113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6D451562-33B5-9AD2-D64E-65D635176C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220" y="8752050"/>
            <a:ext cx="1764112" cy="1764112"/>
          </a:xfrm>
          <a:prstGeom prst="rect">
            <a:avLst/>
          </a:prstGeom>
        </p:spPr>
      </p:pic>
      <p:pic>
        <p:nvPicPr>
          <p:cNvPr id="1024" name="Picture 1023">
            <a:extLst>
              <a:ext uri="{FF2B5EF4-FFF2-40B4-BE49-F238E27FC236}">
                <a16:creationId xmlns:a16="http://schemas.microsoft.com/office/drawing/2014/main" id="{2D833A27-A7AD-30A8-763C-7A7BC1F7D0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0450" y="8811324"/>
            <a:ext cx="1764112" cy="1764112"/>
          </a:xfrm>
          <a:prstGeom prst="rect">
            <a:avLst/>
          </a:prstGeom>
        </p:spPr>
      </p:pic>
      <p:pic>
        <p:nvPicPr>
          <p:cNvPr id="1026" name="Picture 1025">
            <a:extLst>
              <a:ext uri="{FF2B5EF4-FFF2-40B4-BE49-F238E27FC236}">
                <a16:creationId xmlns:a16="http://schemas.microsoft.com/office/drawing/2014/main" id="{D1EB0E00-844A-3323-C7FA-EAB8055FEB6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6283" y="8811324"/>
            <a:ext cx="1764112" cy="1764112"/>
          </a:xfrm>
          <a:prstGeom prst="rect">
            <a:avLst/>
          </a:prstGeom>
        </p:spPr>
      </p:pic>
      <p:pic>
        <p:nvPicPr>
          <p:cNvPr id="1029" name="Picture 1028">
            <a:extLst>
              <a:ext uri="{FF2B5EF4-FFF2-40B4-BE49-F238E27FC236}">
                <a16:creationId xmlns:a16="http://schemas.microsoft.com/office/drawing/2014/main" id="{65A04C4E-89D7-72A5-89B6-3547A0A188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5445" y="8811324"/>
            <a:ext cx="1764112" cy="1764112"/>
          </a:xfrm>
          <a:prstGeom prst="rect">
            <a:avLst/>
          </a:prstGeom>
        </p:spPr>
      </p:pic>
      <p:graphicFrame>
        <p:nvGraphicFramePr>
          <p:cNvPr id="1031" name="Table 1030">
            <a:extLst>
              <a:ext uri="{FF2B5EF4-FFF2-40B4-BE49-F238E27FC236}">
                <a16:creationId xmlns:a16="http://schemas.microsoft.com/office/drawing/2014/main" id="{EC5E5CF8-7BB4-310C-26AC-01170426E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644117"/>
              </p:ext>
            </p:extLst>
          </p:nvPr>
        </p:nvGraphicFramePr>
        <p:xfrm>
          <a:off x="8503183" y="10865403"/>
          <a:ext cx="120562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5452">
                  <a:extLst>
                    <a:ext uri="{9D8B030D-6E8A-4147-A177-3AD203B41FA5}">
                      <a16:colId xmlns:a16="http://schemas.microsoft.com/office/drawing/2014/main" val="123087017"/>
                    </a:ext>
                  </a:extLst>
                </a:gridCol>
                <a:gridCol w="2412702">
                  <a:extLst>
                    <a:ext uri="{9D8B030D-6E8A-4147-A177-3AD203B41FA5}">
                      <a16:colId xmlns:a16="http://schemas.microsoft.com/office/drawing/2014/main" val="1482363307"/>
                    </a:ext>
                  </a:extLst>
                </a:gridCol>
                <a:gridCol w="2412702">
                  <a:extLst>
                    <a:ext uri="{9D8B030D-6E8A-4147-A177-3AD203B41FA5}">
                      <a16:colId xmlns:a16="http://schemas.microsoft.com/office/drawing/2014/main" val="2512112605"/>
                    </a:ext>
                  </a:extLst>
                </a:gridCol>
                <a:gridCol w="2412702">
                  <a:extLst>
                    <a:ext uri="{9D8B030D-6E8A-4147-A177-3AD203B41FA5}">
                      <a16:colId xmlns:a16="http://schemas.microsoft.com/office/drawing/2014/main" val="3565860546"/>
                    </a:ext>
                  </a:extLst>
                </a:gridCol>
                <a:gridCol w="2412702">
                  <a:extLst>
                    <a:ext uri="{9D8B030D-6E8A-4147-A177-3AD203B41FA5}">
                      <a16:colId xmlns:a16="http://schemas.microsoft.com/office/drawing/2014/main" val="3027953201"/>
                    </a:ext>
                  </a:extLst>
                </a:gridCol>
              </a:tblGrid>
              <a:tr h="2329643">
                <a:tc>
                  <a:txBody>
                    <a:bodyPr/>
                    <a:lstStyle/>
                    <a:p>
                      <a:pPr algn="ctr"/>
                      <a:r>
                        <a:rPr lang="en-US" sz="2900" b="1" kern="1200" dirty="0">
                          <a:solidFill>
                            <a:schemeClr val="tx1"/>
                          </a:solidFill>
                          <a:latin typeface="Calibri (Body)"/>
                          <a:ea typeface="+mn-ea"/>
                          <a:cs typeface="Arial" panose="020B0604020202020204" pitchFamily="34" charset="0"/>
                        </a:rPr>
                        <a:t>Research</a:t>
                      </a:r>
                      <a:r>
                        <a:rPr lang="en-US" sz="2900" b="0" kern="1200" dirty="0">
                          <a:solidFill>
                            <a:schemeClr val="tx1"/>
                          </a:solidFill>
                          <a:latin typeface="Calibri (Body)"/>
                          <a:ea typeface="+mn-ea"/>
                          <a:cs typeface="Arial" panose="020B0604020202020204" pitchFamily="34" charset="0"/>
                        </a:rPr>
                        <a:t> and requirements analysis of system components.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b="1" kern="1200" dirty="0">
                          <a:solidFill>
                            <a:schemeClr val="tx1"/>
                          </a:solidFill>
                          <a:latin typeface="Calibri (Body)"/>
                          <a:ea typeface="+mn-ea"/>
                          <a:cs typeface="Arial" panose="020B0604020202020204" pitchFamily="34" charset="0"/>
                        </a:rPr>
                        <a:t>Develop</a:t>
                      </a:r>
                      <a:r>
                        <a:rPr lang="en-US" sz="2900" b="0" kern="1200" dirty="0">
                          <a:solidFill>
                            <a:schemeClr val="tx1"/>
                          </a:solidFill>
                          <a:latin typeface="Calibri (Body)"/>
                          <a:ea typeface="+mn-ea"/>
                          <a:cs typeface="Arial" panose="020B0604020202020204" pitchFamily="34" charset="0"/>
                        </a:rPr>
                        <a:t> an assisting Android mobile application.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138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900" b="1" kern="1200" dirty="0">
                          <a:solidFill>
                            <a:schemeClr val="tx1"/>
                          </a:solidFill>
                          <a:latin typeface="Calibri (Body)"/>
                          <a:ea typeface="+mn-ea"/>
                          <a:cs typeface="Arial" panose="020B0604020202020204" pitchFamily="34" charset="0"/>
                        </a:rPr>
                        <a:t>Build</a:t>
                      </a:r>
                      <a:r>
                        <a:rPr lang="en-US" sz="2900" b="0" kern="1200" dirty="0">
                          <a:solidFill>
                            <a:schemeClr val="tx1"/>
                          </a:solidFill>
                          <a:latin typeface="Calibri (Body)"/>
                          <a:ea typeface="+mn-ea"/>
                          <a:cs typeface="Arial" panose="020B0604020202020204" pitchFamily="34" charset="0"/>
                        </a:rPr>
                        <a:t> multiple EMG-collecting hardware iterations.</a:t>
                      </a:r>
                    </a:p>
                    <a:p>
                      <a:pPr algn="ctr"/>
                      <a:endParaRPr lang="en-US" sz="2900" b="0" kern="1200" dirty="0">
                        <a:solidFill>
                          <a:schemeClr val="tx1"/>
                        </a:solidFill>
                        <a:latin typeface="Calibri (Body)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900" b="1" kern="1200" dirty="0">
                          <a:solidFill>
                            <a:schemeClr val="tx1"/>
                          </a:solidFill>
                          <a:latin typeface="Calibri (Body)"/>
                          <a:ea typeface="+mn-ea"/>
                          <a:cs typeface="Arial" panose="020B0604020202020204" pitchFamily="34" charset="0"/>
                        </a:rPr>
                        <a:t>Train</a:t>
                      </a:r>
                      <a:r>
                        <a:rPr lang="en-US" sz="2900" b="0" kern="1200" dirty="0">
                          <a:solidFill>
                            <a:schemeClr val="tx1"/>
                          </a:solidFill>
                          <a:latin typeface="Calibri (Body)"/>
                          <a:ea typeface="+mn-ea"/>
                          <a:cs typeface="Arial" panose="020B0604020202020204" pitchFamily="34" charset="0"/>
                        </a:rPr>
                        <a:t> an ML model to classify gestures from  EMG data.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138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900" b="1" kern="1200" dirty="0">
                          <a:solidFill>
                            <a:schemeClr val="tx1"/>
                          </a:solidFill>
                          <a:latin typeface="Calibri (Body)"/>
                          <a:ea typeface="+mn-ea"/>
                          <a:cs typeface="Arial" panose="020B0604020202020204" pitchFamily="34" charset="0"/>
                        </a:rPr>
                        <a:t>Analyze</a:t>
                      </a:r>
                      <a:r>
                        <a:rPr lang="en-US" sz="2900" b="0" kern="1200" dirty="0">
                          <a:solidFill>
                            <a:schemeClr val="tx1"/>
                          </a:solidFill>
                          <a:latin typeface="Calibri (Body)"/>
                          <a:ea typeface="+mn-ea"/>
                          <a:cs typeface="Arial" panose="020B0604020202020204" pitchFamily="34" charset="0"/>
                        </a:rPr>
                        <a:t> user feedback &amp; preferences to fine-tune system.</a:t>
                      </a:r>
                    </a:p>
                    <a:p>
                      <a:endParaRPr lang="en-US" sz="2900" dirty="0">
                        <a:latin typeface="Calibri (Body)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602216"/>
                  </a:ext>
                </a:extLst>
              </a:tr>
            </a:tbl>
          </a:graphicData>
        </a:graphic>
      </p:graphicFrame>
      <p:sp>
        <p:nvSpPr>
          <p:cNvPr id="1033" name="TextBox 1032">
            <a:extLst>
              <a:ext uri="{FF2B5EF4-FFF2-40B4-BE49-F238E27FC236}">
                <a16:creationId xmlns:a16="http://schemas.microsoft.com/office/drawing/2014/main" id="{2CA7905C-3F2D-7152-49CA-54E636737EC4}"/>
              </a:ext>
            </a:extLst>
          </p:cNvPr>
          <p:cNvSpPr txBox="1"/>
          <p:nvPr/>
        </p:nvSpPr>
        <p:spPr>
          <a:xfrm>
            <a:off x="2663707" y="13674536"/>
            <a:ext cx="1786437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established a single-sensor baseline using an Arduino Uno; V2 scaled to four sensors on a breadboard; and V3 refined the design into a compact, organized configuration utilizing three optimized EMG sensors.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44CC1327-9726-D391-6B2B-4797E6129BB9}"/>
              </a:ext>
            </a:extLst>
          </p:cNvPr>
          <p:cNvSpPr/>
          <p:nvPr/>
        </p:nvSpPr>
        <p:spPr>
          <a:xfrm>
            <a:off x="11750734" y="16851803"/>
            <a:ext cx="8771097" cy="814087"/>
          </a:xfrm>
          <a:prstGeom prst="rect">
            <a:avLst/>
          </a:prstGeom>
          <a:solidFill>
            <a:srgbClr val="F0D0E7">
              <a:alpha val="6470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  <a:latin typeface="Bahnschrift Light" panose="020B0502040204020203" pitchFamily="34" charset="0"/>
              </a:rPr>
              <a:t>Evaluation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370CB5C5-1CCC-F519-38CB-E93FDB85BE15}"/>
              </a:ext>
            </a:extLst>
          </p:cNvPr>
          <p:cNvSpPr txBox="1"/>
          <p:nvPr/>
        </p:nvSpPr>
        <p:spPr>
          <a:xfrm>
            <a:off x="13982698" y="20660065"/>
            <a:ext cx="684919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Model performance was validated using multi-fold cross-validation, comparing baseline and optimized Random Forest configurations to ensure consistent accuracy, precision, and recall across diverse data folds.</a:t>
            </a: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D660A4E9-3D9C-B785-ED82-6E8B538B3845}"/>
              </a:ext>
            </a:extLst>
          </p:cNvPr>
          <p:cNvSpPr/>
          <p:nvPr/>
        </p:nvSpPr>
        <p:spPr>
          <a:xfrm>
            <a:off x="11788345" y="23804465"/>
            <a:ext cx="8771097" cy="814087"/>
          </a:xfrm>
          <a:prstGeom prst="rect">
            <a:avLst/>
          </a:prstGeom>
          <a:solidFill>
            <a:srgbClr val="CCE4F0">
              <a:alpha val="6470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dirty="0">
                <a:solidFill>
                  <a:schemeClr val="tx1"/>
                </a:solidFill>
                <a:latin typeface="Bahnschrift Light" panose="020B0502040204020203" pitchFamily="34" charset="0"/>
              </a:rPr>
              <a:t>Conclusion &amp; Future Work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94C09A85-C47F-6E84-5CF7-0258473BE444}"/>
              </a:ext>
            </a:extLst>
          </p:cNvPr>
          <p:cNvSpPr txBox="1"/>
          <p:nvPr/>
        </p:nvSpPr>
        <p:spPr>
          <a:xfrm>
            <a:off x="11788345" y="24757078"/>
            <a:ext cx="877109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SignLink provides a practical framework for real-time sign language translation by integrating custom EMG hardware with a robust mobile ML engine. Future iterations will refine hardware reliability and ergonomics, while expanding the system to include multi-language support and video-based translation to ensure universal accessibility.</a:t>
            </a:r>
          </a:p>
        </p:txBody>
      </p: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84A42ADF-1496-2555-EF9E-4A822A1E9479}"/>
              </a:ext>
            </a:extLst>
          </p:cNvPr>
          <p:cNvCxnSpPr>
            <a:cxnSpLocks/>
          </p:cNvCxnSpPr>
          <p:nvPr/>
        </p:nvCxnSpPr>
        <p:spPr>
          <a:xfrm>
            <a:off x="616160" y="28358117"/>
            <a:ext cx="199842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2" name="TextBox 1051">
            <a:extLst>
              <a:ext uri="{FF2B5EF4-FFF2-40B4-BE49-F238E27FC236}">
                <a16:creationId xmlns:a16="http://schemas.microsoft.com/office/drawing/2014/main" id="{62B06677-09DD-011B-ABFC-10A1DFA4C7BF}"/>
              </a:ext>
            </a:extLst>
          </p:cNvPr>
          <p:cNvSpPr txBox="1"/>
          <p:nvPr/>
        </p:nvSpPr>
        <p:spPr>
          <a:xfrm>
            <a:off x="694266" y="28439405"/>
            <a:ext cx="198075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https://rombolabs.github.io/#project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·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https://docs.backyardbrains.com/retired/experiments/RobotHand/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·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https://www.youtube.com/watch?v=0FsTPQY1bJw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· </a:t>
            </a:r>
            <a:r>
              <a:rPr lang="en-GB" sz="2400" u="sng" dirty="0">
                <a:solidFill>
                  <a:schemeClr val="tx1">
                    <a:lumMod val="95000"/>
                    <a:lumOff val="5000"/>
                  </a:schemeClr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https://doi.org/10.1145/3025171.3025216</a:t>
            </a:r>
            <a:r>
              <a:rPr lang="en-GB" sz="24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 · </a:t>
            </a:r>
            <a:r>
              <a:rPr lang="en-GB" sz="2400" dirty="0">
                <a:solidFill>
                  <a:schemeClr val="tx1">
                    <a:lumMod val="95000"/>
                    <a:lumOff val="5000"/>
                  </a:schemeClr>
                </a:solidFill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https://www.un.org/development/desa/disabilities/convention-on-the-rights-of-persons-with-disabilities.html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C1005A-FA46-1ED5-D8E0-CA444E7CA57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2049" y="18469378"/>
            <a:ext cx="1643063" cy="164306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3A440C0-FD21-068B-1537-8459B200AD3C}"/>
              </a:ext>
            </a:extLst>
          </p:cNvPr>
          <p:cNvCxnSpPr>
            <a:cxnSpLocks/>
          </p:cNvCxnSpPr>
          <p:nvPr/>
        </p:nvCxnSpPr>
        <p:spPr>
          <a:xfrm>
            <a:off x="2514921" y="8683812"/>
            <a:ext cx="0" cy="39689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A0B1196-CD1B-2705-E73D-03E332220919}"/>
              </a:ext>
            </a:extLst>
          </p:cNvPr>
          <p:cNvCxnSpPr>
            <a:cxnSpLocks/>
          </p:cNvCxnSpPr>
          <p:nvPr/>
        </p:nvCxnSpPr>
        <p:spPr>
          <a:xfrm>
            <a:off x="2514921" y="12857670"/>
            <a:ext cx="0" cy="173020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6CCD27A-F4E1-3383-BB82-E89BE5A96F50}"/>
              </a:ext>
            </a:extLst>
          </p:cNvPr>
          <p:cNvCxnSpPr>
            <a:cxnSpLocks/>
          </p:cNvCxnSpPr>
          <p:nvPr/>
        </p:nvCxnSpPr>
        <p:spPr>
          <a:xfrm>
            <a:off x="2514921" y="14874949"/>
            <a:ext cx="0" cy="16693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8023A7-4B7B-3901-46B0-AC43F5AD5CB1}"/>
              </a:ext>
            </a:extLst>
          </p:cNvPr>
          <p:cNvCxnSpPr>
            <a:cxnSpLocks/>
          </p:cNvCxnSpPr>
          <p:nvPr/>
        </p:nvCxnSpPr>
        <p:spPr>
          <a:xfrm>
            <a:off x="13708903" y="17860251"/>
            <a:ext cx="0" cy="2582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73B9F51-63E6-3A3D-6293-5D918EA96324}"/>
              </a:ext>
            </a:extLst>
          </p:cNvPr>
          <p:cNvCxnSpPr/>
          <p:nvPr/>
        </p:nvCxnSpPr>
        <p:spPr>
          <a:xfrm>
            <a:off x="13708903" y="20796037"/>
            <a:ext cx="0" cy="2584173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9142138D-C0FA-CD02-0AC6-1303D87BC22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2049" y="21181311"/>
            <a:ext cx="1643060" cy="164306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3A18F5F7-3BDD-3DB1-E3F2-9A110043459B}"/>
              </a:ext>
            </a:extLst>
          </p:cNvPr>
          <p:cNvSpPr txBox="1"/>
          <p:nvPr/>
        </p:nvSpPr>
        <p:spPr>
          <a:xfrm>
            <a:off x="647525" y="17696866"/>
            <a:ext cx="1063669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Rigorous evaluation across 17 random data splits yielded a robust final accuracy of 84.67% ± 2.80%. The stability of these cross-validation scores as visualized in the graph below confirms the model's dependability, ruling out data leakage and validating its efficacy for real-time translation.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7E766215-40A3-96D9-E25D-EF824E6CFEE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60" y="20006574"/>
            <a:ext cx="10636693" cy="5318346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74E84BD2-9C4A-C902-B5AD-F136089DE1D3}"/>
              </a:ext>
            </a:extLst>
          </p:cNvPr>
          <p:cNvSpPr txBox="1"/>
          <p:nvPr/>
        </p:nvSpPr>
        <p:spPr>
          <a:xfrm>
            <a:off x="751897" y="25224146"/>
            <a:ext cx="10564406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The initial pilot study validated our core design with an excellent SUS score of 89.0, while iterative refinements to the calibration wizard and interface clarity propelled the final evaluation to a SUS score of 96.8. This progression demonstrates the effectiveness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72EF353D-DD77-9B74-2170-5D42EF87E10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24" y="27592057"/>
            <a:ext cx="799499" cy="76606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72754954-9D7D-7F6D-52F5-CA653D7D9E10}"/>
              </a:ext>
            </a:extLst>
          </p:cNvPr>
          <p:cNvSpPr txBox="1"/>
          <p:nvPr/>
        </p:nvSpPr>
        <p:spPr>
          <a:xfrm>
            <a:off x="1728201" y="27068529"/>
            <a:ext cx="95881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of our user-centered improvements in achieving a more seamless and intuitive communication experience.</a:t>
            </a:r>
          </a:p>
        </p:txBody>
      </p:sp>
    </p:spTree>
    <p:extLst>
      <p:ext uri="{BB962C8B-B14F-4D97-AF65-F5344CB8AC3E}">
        <p14:creationId xmlns:p14="http://schemas.microsoft.com/office/powerpoint/2010/main" val="3103423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577</Words>
  <Application>Microsoft Office PowerPoint</Application>
  <PresentationFormat>Custom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Bahnschrift Light</vt:lpstr>
      <vt:lpstr>Bahnschrift SemiBold SemiConden</vt:lpstr>
      <vt:lpstr>Calibri</vt:lpstr>
      <vt:lpstr>Calibri (Body)</vt:lpstr>
      <vt:lpstr>Calibri Light</vt:lpstr>
      <vt:lpstr>Office Theme</vt:lpstr>
      <vt:lpstr>PowerPoint Presentation</vt:lpstr>
    </vt:vector>
  </TitlesOfParts>
  <Company>Birmingham City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Justin Gough</dc:creator>
  <cp:lastModifiedBy>Deydeepya</cp:lastModifiedBy>
  <cp:revision>9</cp:revision>
  <dcterms:created xsi:type="dcterms:W3CDTF">2023-03-28T14:31:49Z</dcterms:created>
  <dcterms:modified xsi:type="dcterms:W3CDTF">2026-06-15T05:14:27Z</dcterms:modified>
</cp:coreProperties>
</file>